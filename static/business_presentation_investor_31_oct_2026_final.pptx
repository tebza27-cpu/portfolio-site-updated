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84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19" y="822960"/>
            <a:ext cx="7302137" cy="45981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219456" cy="47548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34440" y="1234440"/>
            <a:ext cx="5669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</a:rPr>
              <a:t>Sifiso IT Support &amp; Business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148840"/>
            <a:ext cx="5212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Final Business Presentation | 31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926080"/>
            <a:ext cx="51206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</a:pPr>
            <a:r>
              <a:rPr sz="1800" dirty="0">
                <a:solidFill>
                  <a:srgbClr val="1E293B"/>
                </a:solidFill>
              </a:rPr>
              <a:t>• Solving customer problems with dependable IT support</a:t>
            </a: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1E293B"/>
                </a:solidFill>
              </a:rPr>
              <a:t>• Building trust, loyalty, and long-term client relationships</a:t>
            </a: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1E293B"/>
                </a:solidFill>
              </a:rPr>
              <a:t>• Growing a professional service business with clear systems and value</a:t>
            </a: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1E293B"/>
                </a:solidFill>
              </a:rPr>
              <a:t>• Prepared for feedback, Q&amp;A, and the next stage of growth</a:t>
            </a:r>
          </a:p>
        </p:txBody>
      </p:sp>
      <p:pic>
        <p:nvPicPr>
          <p:cNvPr id="8" name="Picture 7" descr="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2887" y="1531620"/>
            <a:ext cx="3265713" cy="25145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1. Customer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What problem am I solving?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212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</a:rPr>
              <a:t>Small businesses lose time, revenue, and confidence when their devices, systems, or digital processes fail.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</a:rPr>
              <a:t>Owners often struggle with slow troubleshooting, lack of IT guidance, and poor technology reliability.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</a:rPr>
              <a:t>The real need is dependable, affordable support that keeps business operations running smoothly.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</a:rPr>
              <a:t>We solve this by reducing stress, improving productivity, and helping clients focus on growth.</a:t>
            </a:r>
          </a:p>
        </p:txBody>
      </p:sp>
      <p:pic>
        <p:nvPicPr>
          <p:cNvPr id="6" name="Picture 5" descr="custom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37360"/>
            <a:ext cx="475488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2. Product /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What exactly do I sell?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I provide practical IT support and digital systems assistance for small businesses, entrepreneurs, and home-based operations.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Core services include troubleshooting, setup, maintenance, cloud and file support, digital process guidance, and service follow-up.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Service model: one-off support, monthly retainers, and package-based subscriptions for ongoing reliability.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This gives clients a simple, valuable solution: less downtime and more confidence in how they work.</a:t>
            </a:r>
          </a:p>
        </p:txBody>
      </p:sp>
      <p:pic>
        <p:nvPicPr>
          <p:cNvPr id="6" name="Picture 5" descr="serv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475488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3. 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Why am I different or better?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</a:rPr>
              <a:t>Customer-first service with clear communication and practical solutions.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</a:rPr>
              <a:t>Reliable support for non-technical business owners who need simple, effective help.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</a:rPr>
              <a:t>Flexible packages that match real business needs, not expensive one-size-fits-all plans.</a:t>
            </a:r>
          </a:p>
          <a:p>
            <a:pPr algn="l">
              <a:spcAft>
                <a:spcPts val="1000"/>
              </a:spcAft>
            </a:pPr>
            <a:r>
              <a:rPr sz="1900">
                <a:solidFill>
                  <a:srgbClr val="1E293B"/>
                </a:solidFill>
              </a:rPr>
              <a:t>Trust-based relationships create repeat business, referrals, and a lasting reputation.</a:t>
            </a:r>
          </a:p>
        </p:txBody>
      </p:sp>
      <p:pic>
        <p:nvPicPr>
          <p:cNvPr id="6" name="Picture 5" descr="suppo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475488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4. Target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Who do I serve?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303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Small business owners who are busy and do not have an in-house IT team.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Freelancers, home-based businesses, small offices, and service-driven companies with basic digital needs.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Clients who value professionalism, responsiveness, and clear technical support.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Priority market: local professionals, startups, and growing businesses that need dependable support.</a:t>
            </a:r>
          </a:p>
        </p:txBody>
      </p:sp>
      <p:pic>
        <p:nvPicPr>
          <p:cNvPr id="6" name="Picture 5" descr="mark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466344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5. Inclusive Pricing &amp;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Affordability is part of the customer need, not an afterthought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6692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</a:rPr>
              <a:t>Some individuals and micro-businesses need IT help but cannot afford large once-off fees or full monthly retainers.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</a:rPr>
              <a:t>Offer a low-cost essential support session, clear quotations, and a payment plan where appropriate.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</a:rPr>
              <a:t>Use remote support, reusable checklists, and group guidance to keep delivery costs low without lowering service quality.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</a:rPr>
              <a:t>Retainer and premium business clients help subsidise accessible support while referrals build a wider customer 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828800"/>
            <a:ext cx="2057400" cy="1051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85431" y="1956816"/>
            <a:ext cx="1728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Essential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85431" y="2212848"/>
            <a:ext cx="17282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350 / 45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1828800"/>
            <a:ext cx="2057400" cy="10515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71432" y="1956816"/>
            <a:ext cx="1728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Starter package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1432" y="2212848"/>
            <a:ext cx="17282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750 / month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337560"/>
            <a:ext cx="2057400" cy="10515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85431" y="3465576"/>
            <a:ext cx="1728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Business retainer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5431" y="3721608"/>
            <a:ext cx="17282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2,500 / month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3337560"/>
            <a:ext cx="2155965" cy="1030379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71432" y="3465576"/>
            <a:ext cx="1728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Access principle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3721608"/>
            <a:ext cx="2155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0F172A"/>
                </a:solidFill>
              </a:rPr>
              <a:t>Value before volume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6. Acquisition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How will I get attention and make sales?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Use referrals, online visibility, networking, and direct outreach to local businesses.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Create a simple digital presence through social channels, WhatsApp, and a business website.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Offer a free discovery call or quick diagnostic session to build trust and show value.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Turn satisfied clients into advocates through consistent service, follow-up, and repeat support.</a:t>
            </a:r>
          </a:p>
        </p:txBody>
      </p:sp>
      <p:pic>
        <p:nvPicPr>
          <p:cNvPr id="6" name="Picture 5" descr="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37360"/>
            <a:ext cx="466344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7. Required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What do I need to launch and maintain the business?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394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Reliable laptop, smartphone, stable internet, and essential productivity tools.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Basic diagnostic software, backup systems, and case management or documentation workflows.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Initial working capital for branding, networking, communication tools, and service delivery costs.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Simple systems for invoicing, scheduling, client communication, and service tracking.</a:t>
            </a:r>
          </a:p>
        </p:txBody>
      </p:sp>
      <p:pic>
        <p:nvPicPr>
          <p:cNvPr id="6" name="Picture 5" descr="serv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457200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8. Evidence of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How will the business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394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Revenue comes from support fees, monthly retainers, troubleshooting packages, and service subscriptions.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Profitability depends on keeping costs low while delivering dependable value and trusted client service.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Simple pricing model: set fee + hourly support + optional premium maintenance packages.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E293B"/>
                </a:solidFill>
              </a:rPr>
              <a:t>The goal is steady recurring revenue and a sustainable client base built on trust.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9. Startup Cost &amp; Operating Cost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The business must be realistic, sustainable, and investable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210312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591056"/>
            <a:ext cx="1773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Equipment &amp;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47088"/>
            <a:ext cx="17739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18,000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463040"/>
            <a:ext cx="2103120" cy="10058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36392" y="1591056"/>
            <a:ext cx="1773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Website &amp; branding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2" y="1847088"/>
            <a:ext cx="17739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6,500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1463040"/>
            <a:ext cx="2103120" cy="10058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22392" y="1591056"/>
            <a:ext cx="1773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Marketing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2392" y="1847088"/>
            <a:ext cx="17739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7,000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463040"/>
            <a:ext cx="210312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08392" y="1591056"/>
            <a:ext cx="1773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Software &amp;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1847088"/>
            <a:ext cx="17739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5,000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926080"/>
            <a:ext cx="274320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3054096"/>
            <a:ext cx="24140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Owner-time equivalent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3310128"/>
            <a:ext cx="24140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7,500 / month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2926080"/>
            <a:ext cx="2743200" cy="100584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22191" y="3054096"/>
            <a:ext cx="24140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Monthly 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1" y="3310128"/>
            <a:ext cx="24140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11,000 / month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2926080"/>
            <a:ext cx="2743200" cy="10058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48272" y="3054096"/>
            <a:ext cx="24140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Working capital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3310128"/>
            <a:ext cx="24140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10,000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663440"/>
            <a:ext cx="9921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0F172A"/>
                </a:solidFill>
              </a:rPr>
              <a:t>Setup: R46,500 | Monthly cash operations: R11,000 | Owner-time benchmark: R7,500/month (separate)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10. Revenue Model &amp; Sales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How the business creates dependable sales and growth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201168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591056"/>
            <a:ext cx="1682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Clients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47088"/>
            <a:ext cx="16824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20 active clients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463040"/>
            <a:ext cx="2011680" cy="10058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44952" y="1591056"/>
            <a:ext cx="1682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Average monthly fee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2" y="1847088"/>
            <a:ext cx="16824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1,500/client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463040"/>
            <a:ext cx="2011680" cy="10058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9512" y="1591056"/>
            <a:ext cx="1682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Monthly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9512" y="1847088"/>
            <a:ext cx="16824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30,000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463040"/>
            <a:ext cx="2011680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34072" y="1591056"/>
            <a:ext cx="1682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Annual revenue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4072" y="1847088"/>
            <a:ext cx="16824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360,000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154680"/>
            <a:ext cx="2926080" cy="118872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3282696"/>
            <a:ext cx="25968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High-value support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3538728"/>
            <a:ext cx="25968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2,500 / client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4760" y="3154680"/>
            <a:ext cx="2926080" cy="118872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59352" y="3282696"/>
            <a:ext cx="25968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Service package growth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3538728"/>
            <a:ext cx="25968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12-18 clients added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20640"/>
            <a:ext cx="10287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0F172A"/>
                </a:solidFill>
              </a:rPr>
              <a:t>Recurring retainers, premium add-ons, and referrals support predictable monthly sales.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11. One Customer Sale: 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Per-sale contribution includes owner time; break-even covers cash overhead.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214884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591056"/>
            <a:ext cx="18196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Customer sale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47088"/>
            <a:ext cx="18196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3,000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463040"/>
            <a:ext cx="2148840" cy="10058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82112" y="1591056"/>
            <a:ext cx="18196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Owner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2112" y="1847088"/>
            <a:ext cx="18196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6 hours x R250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1463040"/>
            <a:ext cx="2148840" cy="1005840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13831" y="1591056"/>
            <a:ext cx="18196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Time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13831" y="1847088"/>
            <a:ext cx="18196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1,500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463040"/>
            <a:ext cx="2148840" cy="10058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45552" y="1591056"/>
            <a:ext cx="18196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Other variable costs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1847088"/>
            <a:ext cx="181965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8803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</a:rPr>
              <a:t>Revenue: R3,000 sale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</a:rPr>
              <a:t>Less owner time: 6 hours x R250 = R1,500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</a:rPr>
              <a:t>Less other variable costs: R500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E293B"/>
                </a:solidFill>
              </a:rPr>
              <a:t>Contribution after variable costs: R1,000 | Margin: 33.3%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754880"/>
            <a:ext cx="2743200" cy="96012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4882896"/>
            <a:ext cx="24140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Monthly cash overhead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5138928"/>
            <a:ext cx="24140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11,000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754880"/>
            <a:ext cx="3108960" cy="9601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05072" y="4882896"/>
            <a:ext cx="27797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Break-even calculation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5072" y="5138928"/>
            <a:ext cx="27797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R11,000 / R1,000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4754880"/>
            <a:ext cx="2743200" cy="9601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88352" y="4882896"/>
            <a:ext cx="24140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Break-even 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8352" y="5138928"/>
            <a:ext cx="24140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11 sales / month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12. Investor Value, Profitability &amp; Reinvestment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Illustrative year-three projection; figures are estimates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194560" cy="1051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682495"/>
            <a:ext cx="18653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Investment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38528"/>
            <a:ext cx="18653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75,000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554480"/>
            <a:ext cx="2194560" cy="10515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19272" y="1682495"/>
            <a:ext cx="18653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Annual revenue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1938528"/>
            <a:ext cx="18653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540,000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554480"/>
            <a:ext cx="2194560" cy="10515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42431" y="1682495"/>
            <a:ext cx="18653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Gross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42431" y="1938528"/>
            <a:ext cx="18653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65%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554480"/>
            <a:ext cx="2194560" cy="1051560"/>
          </a:xfrm>
          <a:prstGeom prst="roundRect">
            <a:avLst/>
          </a:prstGeom>
          <a:solidFill>
            <a:srgbClr val="FDE68A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9871" y="1682495"/>
            <a:ext cx="18653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Annual operating costs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1" y="1938528"/>
            <a:ext cx="186537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222,000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154680"/>
            <a:ext cx="3200400" cy="123444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70432" y="3282696"/>
            <a:ext cx="2871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Estimated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538728"/>
            <a:ext cx="28712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R 129,000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154680"/>
            <a:ext cx="3200400" cy="123444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45152" y="3282696"/>
            <a:ext cx="28712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1E3A8A"/>
                </a:solidFill>
              </a:rPr>
              <a:t>Proposed investor return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3538728"/>
            <a:ext cx="287121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30% share (proposed)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74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dirty="0">
                <a:solidFill>
                  <a:srgbClr val="0F172A"/>
                </a:solidFill>
              </a:rPr>
              <a:t>Year-three case: R540,000 revenue x 65% = R351,000 gross profit. Less R222,000 annual costs = R129,000 estimated operating profit before tax and financing. Proposed investor terms: 30% share; structure to agree.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13. Chapter 11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569"/>
                </a:solidFill>
              </a:rPr>
              <a:t>Vision, operations, compliance, leadership, and SMART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</a:rPr>
              <a:t>Vision: in three years, I want a trusted, growing IT support business with recurring clients and a strong reputation.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</a:rPr>
              <a:t>Operations: I will document workflows, service steps, and customer communication systems with consistency.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</a:rPr>
              <a:t>Compliance: I will research local licensing, registration, and business regulations from the beginning.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</a:rPr>
              <a:t>SMART goals: establish recurring revenue, increase client base, and improve service reliability by set milestones.</a:t>
            </a:r>
          </a:p>
        </p:txBody>
      </p:sp>
      <p:pic>
        <p:nvPicPr>
          <p:cNvPr id="6" name="Picture 5" descr="vi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457200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44200" y="137160"/>
            <a:ext cx="91440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00:20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8FAFC"/>
                </a:solidFill>
              </a:rPr>
              <a:t>Final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7978140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dirty="0">
                <a:solidFill>
                  <a:srgbClr val="E2E8F0"/>
                </a:solidFill>
              </a:rPr>
              <a:t>This business is not just about technical support; it is about building trust, reducing operational risk, and creating measurable value for clients.</a:t>
            </a:r>
          </a:p>
          <a:p>
            <a:pPr>
              <a:spcAft>
                <a:spcPts val="1000"/>
              </a:spcAft>
            </a:pPr>
            <a:r>
              <a:rPr sz="2100" dirty="0">
                <a:solidFill>
                  <a:srgbClr val="E2E8F0"/>
                </a:solidFill>
              </a:rPr>
              <a:t>It is a realistic, investable business model with clear costs, sustainable revenue, and a scalable path to long-term profit.</a:t>
            </a:r>
          </a:p>
          <a:p>
            <a:pPr>
              <a:spcAft>
                <a:spcPts val="1000"/>
              </a:spcAft>
            </a:pPr>
            <a:r>
              <a:rPr sz="2100" dirty="0">
                <a:solidFill>
                  <a:srgbClr val="E2E8F0"/>
                </a:solidFill>
              </a:rPr>
              <a:t>The business can become self-sustaining through recurring revenue, reinvestment, and disciplined growth, while giving investors both value and return.</a:t>
            </a:r>
          </a:p>
          <a:p>
            <a:pPr>
              <a:spcAft>
                <a:spcPts val="1000"/>
              </a:spcAft>
            </a:pPr>
            <a:r>
              <a:rPr sz="2100" dirty="0">
                <a:solidFill>
                  <a:srgbClr val="E2E8F0"/>
                </a:solidFill>
              </a:rPr>
              <a:t>Thank you for listening. I welcome your feedback, partnership discussions, and next-stage investment conversations.</a:t>
            </a:r>
          </a:p>
        </p:txBody>
      </p:sp>
      <p:pic>
        <p:nvPicPr>
          <p:cNvPr id="6" name="Picture 5" descr="f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449285"/>
            <a:ext cx="256032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1228</Words>
  <Application>Microsoft Office PowerPoint</Application>
  <PresentationFormat>Widescreen</PresentationFormat>
  <Paragraphs>155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Sifiso Mokhele</cp:lastModifiedBy>
  <cp:revision>5</cp:revision>
  <dcterms:created xsi:type="dcterms:W3CDTF">2013-01-27T09:14:16Z</dcterms:created>
  <dcterms:modified xsi:type="dcterms:W3CDTF">2026-10-27T18:00:35Z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2026-09-23T15:12:59Z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42804ae1-d2e9-40b7-a4a3-45811234298b</vt:lpwstr>
  </property>
  <property fmtid="{D5CDD505-2E9C-101B-9397-08002B2CF9AE}" pid="7" name="MSIP_Label_defa4170-0d19-0005-0004-bc88714345d2_ActionId">
    <vt:lpwstr>8ee60d99-227a-449c-93e5-08c17602e23e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