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esigner (1).png"/>
          <p:cNvPicPr>
            <a:picLocks noChangeAspect="1"/>
          </p:cNvPicPr>
          <p:nvPr/>
        </p:nvPicPr>
        <p:blipFill>
          <a:blip r:embed="rId2"/>
          <a:srcRect l="25200" r="25200"/>
          <a:stretch>
            <a:fillRect/>
          </a:stretch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86600" y="0"/>
            <a:ext cx="5102352" cy="6858000"/>
          </a:xfrm>
          <a:prstGeom prst="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713232"/>
            <a:ext cx="128016" cy="969264"/>
          </a:xfrm>
          <a:prstGeom prst="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685800"/>
            <a:ext cx="5120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A7CDE7"/>
                </a:solidFill>
                <a:latin typeface="Aptos Display"/>
              </a:rPr>
              <a:t>MOKHELE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115568"/>
            <a:ext cx="621792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ptos Display"/>
              </a:rPr>
              <a:t>IT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57400"/>
            <a:ext cx="52120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>
                <a:solidFill>
                  <a:srgbClr val="FFFFFF"/>
                </a:solidFill>
                <a:latin typeface="Aptos Display"/>
              </a:rPr>
              <a:t>Reliable technology support for small businesses and the people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94760"/>
            <a:ext cx="4389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396EC"/>
                </a:solidFill>
                <a:latin typeface="Aptos"/>
              </a:rPr>
              <a:t>UPDATED BUSINESS PROPOSAL  /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24528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7CDE7"/>
                </a:solidFill>
                <a:latin typeface="Aptos"/>
              </a:rPr>
              <a:t>Sifiso Mokhele  |  Founder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071616"/>
            <a:ext cx="6492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7CDE7"/>
                </a:solidFill>
                <a:latin typeface="Aptos"/>
              </a:rPr>
              <a:t>18 years of support experience  •  Remote and on-site delivery  •  South 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1">
                <a:solidFill>
                  <a:srgbClr val="A7CDE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8000">
        <p:fade thruBlk="1"/>
      </p:transition>
    </mc:Choice>
    <mc:Fallback>
      <p:transition spd="med" advTm="8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310896"/>
            <a:ext cx="49377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B6D8D"/>
                </a:solidFill>
                <a:latin typeface="Aptos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240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B6D8D"/>
                </a:solidFill>
                <a:latin typeface="Aptos"/>
              </a:rPr>
              <a:t>MOKHELE IT SOLUTIONS   /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58952"/>
            <a:ext cx="80467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9192E"/>
                </a:solidFill>
                <a:latin typeface="Aptos Display"/>
              </a:rPr>
              <a:t>Small businesses need a dependable IT partner.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17904"/>
            <a:ext cx="79552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D8D"/>
                </a:solidFill>
                <a:latin typeface="Aptos"/>
              </a:rPr>
              <a:t>Technology problems cost time, revenue, and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79792" y="2057400"/>
            <a:ext cx="3977639" cy="3520440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2.jpg"/>
          <p:cNvPicPr>
            <a:picLocks noChangeAspect="1"/>
          </p:cNvPicPr>
          <p:nvPr/>
        </p:nvPicPr>
        <p:blipFill>
          <a:blip r:embed="rId2"/>
          <a:srcRect l="12198" r="12198"/>
          <a:stretch>
            <a:fillRect/>
          </a:stretch>
        </p:blipFill>
        <p:spPr>
          <a:xfrm>
            <a:off x="7534656" y="2112264"/>
            <a:ext cx="3867911" cy="34107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44384" y="5120640"/>
            <a:ext cx="1536192" cy="283464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5170932"/>
            <a:ext cx="153619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ptos"/>
              </a:rPr>
              <a:t>THE CUSTOMER NEED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21408"/>
            <a:ext cx="63093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2121408"/>
            <a:ext cx="64008" cy="932688"/>
          </a:xfrm>
          <a:prstGeom prst="round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2304288"/>
            <a:ext cx="5925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9192E"/>
                </a:solidFill>
                <a:latin typeface="Aptos Display"/>
              </a:rPr>
              <a:t>The friction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743200"/>
            <a:ext cx="5907024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dirty="0">
                <a:solidFill>
                  <a:srgbClr val="1B2735"/>
                </a:solidFill>
                <a:latin typeface="Aptos"/>
              </a:rPr>
              <a:t>Slow troubleshooting, unreliable devices, weak backups, and unclear digital processes pull owners away from growth.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206" y="3258708"/>
            <a:ext cx="63093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" y="3246120"/>
            <a:ext cx="64008" cy="932688"/>
          </a:xfrm>
          <a:prstGeom prst="roundRect">
            <a:avLst/>
          </a:prstGeom>
          <a:solidFill>
            <a:srgbClr val="A7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456432"/>
            <a:ext cx="5925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9192E"/>
                </a:solidFill>
                <a:latin typeface="Aptos Display"/>
              </a:rPr>
              <a:t>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867912"/>
            <a:ext cx="5907024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B2735"/>
                </a:solidFill>
                <a:latin typeface="Aptos"/>
              </a:rPr>
              <a:t>Teams with 1 to 50 employees need support but often cannot justify a full-time IT technician or enterprise contract.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70832"/>
            <a:ext cx="630936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" y="4370832"/>
            <a:ext cx="64008" cy="932688"/>
          </a:xfrm>
          <a:prstGeom prst="roundRect">
            <a:avLst/>
          </a:prstGeom>
          <a:solidFill>
            <a:srgbClr val="33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4553712"/>
            <a:ext cx="5925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9192E"/>
                </a:solidFill>
                <a:latin typeface="Aptos Display"/>
              </a:rPr>
              <a:t>The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992624"/>
            <a:ext cx="5907024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B2735"/>
                </a:solidFill>
                <a:latin typeface="Aptos"/>
              </a:rPr>
              <a:t>Mokhele IT Solutions packages practical support, cloud guidance, and basic security into an affordable service.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742432"/>
            <a:ext cx="1554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396EC"/>
                </a:solidFill>
                <a:latin typeface="Aptos"/>
              </a:rPr>
              <a:t>The promise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669280"/>
            <a:ext cx="56692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09192E"/>
                </a:solidFill>
                <a:latin typeface="Aptos Display"/>
              </a:rPr>
              <a:t>Less downtime. More confidence. A clearer way to work.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12000">
        <p:fade thruBlk="1"/>
      </p:transition>
    </mc:Choice>
    <mc:Fallback>
      <p:transition spd="med" advTm="12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310896"/>
            <a:ext cx="49377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B6D8D"/>
                </a:solidFill>
                <a:latin typeface="Aptos"/>
              </a:rPr>
              <a:t>THE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240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B6D8D"/>
                </a:solidFill>
                <a:latin typeface="Aptos"/>
              </a:rPr>
              <a:t>MOKHELE IT SOLUTIONS   / 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58952"/>
            <a:ext cx="80467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9192E"/>
                </a:solidFill>
                <a:latin typeface="Aptos Display"/>
              </a:rPr>
              <a:t>A lean service business built on earned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17904"/>
            <a:ext cx="79552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D8D"/>
                </a:solidFill>
                <a:latin typeface="Aptos"/>
              </a:rPr>
              <a:t>The founder's existing capability is the first asset.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79792" y="2057400"/>
            <a:ext cx="3977639" cy="3520440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.jpg"/>
          <p:cNvPicPr>
            <a:picLocks noChangeAspect="1"/>
          </p:cNvPicPr>
          <p:nvPr/>
        </p:nvPicPr>
        <p:blipFill>
          <a:blip r:embed="rId2"/>
          <a:srcRect l="12198" r="12198"/>
          <a:stretch>
            <a:fillRect/>
          </a:stretch>
        </p:blipFill>
        <p:spPr>
          <a:xfrm>
            <a:off x="7534656" y="2112264"/>
            <a:ext cx="3867911" cy="34107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44384" y="5120640"/>
            <a:ext cx="1536192" cy="283464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5170932"/>
            <a:ext cx="153619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ptos"/>
              </a:rPr>
              <a:t>BUILT ON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40280"/>
            <a:ext cx="237744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09192E"/>
                </a:solidFill>
                <a:latin typeface="Aptos Display"/>
              </a:rPr>
              <a:t>18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70632"/>
            <a:ext cx="2377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D8D"/>
                </a:solidFill>
                <a:latin typeface="Aptos"/>
              </a:rPr>
              <a:t>Support Analyst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240280"/>
            <a:ext cx="237744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09192E"/>
                </a:solidFill>
                <a:latin typeface="Aptos Display"/>
              </a:rPr>
              <a:t>R2k–R5k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770632"/>
            <a:ext cx="2377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D8D"/>
                </a:solidFill>
                <a:latin typeface="Aptos"/>
              </a:rPr>
              <a:t>Lean startup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20440"/>
            <a:ext cx="237744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09192E"/>
                </a:solidFill>
                <a:latin typeface="Aptos Display"/>
              </a:rPr>
              <a:t>1–50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050792"/>
            <a:ext cx="2377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D8D"/>
                </a:solidFill>
                <a:latin typeface="Aptos"/>
              </a:rPr>
              <a:t>Employee target businesses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520440"/>
            <a:ext cx="256032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09192E"/>
                </a:solidFill>
                <a:latin typeface="Aptos Display"/>
              </a:rPr>
              <a:t>Remote + on-site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4050792"/>
            <a:ext cx="2560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D8D"/>
                </a:solidFill>
                <a:latin typeface="Aptos"/>
              </a:rPr>
              <a:t>Flexible delivery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846320"/>
            <a:ext cx="6309360" cy="18288"/>
          </a:xfrm>
          <a:prstGeom prst="rect">
            <a:avLst/>
          </a:prstGeom>
          <a:solidFill>
            <a:srgbClr val="A7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5102352"/>
            <a:ext cx="1234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396EC"/>
                </a:solidFill>
                <a:latin typeface="Aptos"/>
              </a:rPr>
              <a:t>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029200"/>
            <a:ext cx="50749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9192E"/>
                </a:solidFill>
                <a:latin typeface="Aptos Display"/>
              </a:rPr>
              <a:t>Affordable, reliable IT support that solves problems quickly, improves productivity, and helps clients maintain secure IT environments.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989320"/>
            <a:ext cx="6492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D8D"/>
                </a:solidFill>
                <a:latin typeface="Aptos"/>
              </a:rPr>
              <a:t>Home-based and remote support from South Africa, with on-site service where the client needs 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12000">
        <p:fade thruBlk="1"/>
      </p:transition>
    </mc:Choice>
    <mc:Fallback>
      <p:transition spd="med" advTm="12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310896"/>
            <a:ext cx="49377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B6D8D"/>
                </a:solidFill>
                <a:latin typeface="Aptos"/>
              </a:rPr>
              <a:t>THE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240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B6D8D"/>
                </a:solidFill>
                <a:latin typeface="Aptos"/>
              </a:rPr>
              <a:t>MOKHELE IT SOLUTIONS   / 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58952"/>
            <a:ext cx="80467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9192E"/>
                </a:solidFill>
                <a:latin typeface="Aptos Display"/>
              </a:rPr>
              <a:t>Practical support across the moments that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17904"/>
            <a:ext cx="79552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D8D"/>
                </a:solidFill>
                <a:latin typeface="Aptos"/>
              </a:rPr>
              <a:t>A clear service menu makes it easy to buy help and easy to deliver it consistently.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79792" y="2057400"/>
            <a:ext cx="3977639" cy="3520440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3.jpg"/>
          <p:cNvPicPr>
            <a:picLocks noChangeAspect="1"/>
          </p:cNvPicPr>
          <p:nvPr/>
        </p:nvPicPr>
        <p:blipFill>
          <a:blip r:embed="rId2"/>
          <a:srcRect l="12198" r="12198"/>
          <a:stretch>
            <a:fillRect/>
          </a:stretch>
        </p:blipFill>
        <p:spPr>
          <a:xfrm>
            <a:off x="7534656" y="2112264"/>
            <a:ext cx="3867911" cy="34107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44384" y="5120640"/>
            <a:ext cx="1536192" cy="283464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5170932"/>
            <a:ext cx="153619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ptos"/>
              </a:rPr>
              <a:t>PRACTICAL SERVICE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76272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2176272"/>
            <a:ext cx="64008" cy="1234440"/>
          </a:xfrm>
          <a:prstGeom prst="round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359152"/>
            <a:ext cx="258775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9192E"/>
                </a:solidFill>
                <a:latin typeface="Aptos Display"/>
              </a:rPr>
              <a:t>Everyday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98064"/>
            <a:ext cx="2569464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B2735"/>
                </a:solidFill>
                <a:latin typeface="Aptos"/>
              </a:rPr>
              <a:t>Computer and laptop troubleshooting
Performance tune-ups
Virus and malware removal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176272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886200" y="2176272"/>
            <a:ext cx="64008" cy="1234440"/>
          </a:xfrm>
          <a:prstGeom prst="roundRect">
            <a:avLst/>
          </a:prstGeom>
          <a:solidFill>
            <a:srgbClr val="A7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5656" y="2359152"/>
            <a:ext cx="258775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9192E"/>
                </a:solidFill>
                <a:latin typeface="Aptos Display"/>
              </a:rPr>
              <a:t>Connected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5656" y="2798064"/>
            <a:ext cx="2569464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B2735"/>
                </a:solidFill>
                <a:latin typeface="Aptos"/>
              </a:rPr>
              <a:t>Wi-Fi and network troubleshooting
Printer and email setup
Remote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3703320"/>
            <a:ext cx="64008" cy="1234440"/>
          </a:xfrm>
          <a:prstGeom prst="roundRect">
            <a:avLst/>
          </a:prstGeom>
          <a:solidFill>
            <a:srgbClr val="33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886200"/>
            <a:ext cx="258775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9192E"/>
                </a:solidFill>
                <a:latin typeface="Aptos Display"/>
              </a:rPr>
              <a:t>Cloud and continuity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325112"/>
            <a:ext cx="2569464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B2735"/>
                </a:solidFill>
                <a:latin typeface="Aptos"/>
              </a:rPr>
              <a:t>Microsoft 365 setup and administration
Backup and recovery support
User account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370332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886200" y="3703320"/>
            <a:ext cx="64008" cy="1234440"/>
          </a:xfrm>
          <a:prstGeom prst="roundRect">
            <a:avLst/>
          </a:prstGeom>
          <a:solidFill>
            <a:srgbClr val="5B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05656" y="3886200"/>
            <a:ext cx="258775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9192E"/>
                </a:solidFill>
                <a:latin typeface="Aptos Display"/>
              </a:rPr>
              <a:t>Safer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5656" y="4325112"/>
            <a:ext cx="2569464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B2735"/>
                </a:solidFill>
                <a:latin typeface="Aptos"/>
              </a:rPr>
              <a:t>Basic cybersecurity assessments
Phishing and password awareness
Device security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76672"/>
            <a:ext cx="1188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396EC"/>
                </a:solidFill>
                <a:latin typeface="Aptos"/>
              </a:rPr>
              <a:t>Delivery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321808"/>
            <a:ext cx="53492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9192E"/>
                </a:solidFill>
                <a:latin typeface="Aptos Display"/>
              </a:rPr>
              <a:t>One-off support  →  Projects  →  Monthly support plans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14000">
        <p:fade thruBlk="1"/>
      </p:transition>
    </mc:Choice>
    <mc:Fallback>
      <p:transition spd="med" advTm="14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310896"/>
            <a:ext cx="49377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B6D8D"/>
                </a:solidFill>
                <a:latin typeface="Aptos"/>
              </a:rPr>
              <a:t>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240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B6D8D"/>
                </a:solidFill>
                <a:latin typeface="Aptos"/>
              </a:rPr>
              <a:t>MOKHELE IT SOLUTIONS   / 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58952"/>
            <a:ext cx="80467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9192E"/>
                </a:solidFill>
                <a:latin typeface="Aptos Display"/>
              </a:rPr>
              <a:t>Start where trust already travels.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17904"/>
            <a:ext cx="79552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D8D"/>
                </a:solidFill>
                <a:latin typeface="Aptos"/>
              </a:rPr>
              <a:t>A focused local market creates a practical path to the first ten recurring clients.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79792" y="2057400"/>
            <a:ext cx="3977639" cy="3520440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5.jpg"/>
          <p:cNvPicPr>
            <a:picLocks noChangeAspect="1"/>
          </p:cNvPicPr>
          <p:nvPr/>
        </p:nvPicPr>
        <p:blipFill>
          <a:blip r:embed="rId2"/>
          <a:srcRect l="12198" r="12198"/>
          <a:stretch>
            <a:fillRect/>
          </a:stretch>
        </p:blipFill>
        <p:spPr>
          <a:xfrm>
            <a:off x="7534656" y="2112264"/>
            <a:ext cx="3867911" cy="34107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44384" y="5120640"/>
            <a:ext cx="1536192" cy="283464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5170932"/>
            <a:ext cx="153619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ptos"/>
              </a:rPr>
              <a:t>THE PEOPLE WE SERVE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212848"/>
            <a:ext cx="6309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350008"/>
            <a:ext cx="53035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396EC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322576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9192E"/>
                </a:solidFill>
                <a:latin typeface="Aptos Display"/>
              </a:rPr>
              <a:t>Small businesses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68296"/>
            <a:ext cx="3246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5B6D8D"/>
                </a:solidFill>
                <a:latin typeface="Aptos"/>
              </a:rPr>
              <a:t>1–50 employees  /  No in-house IT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81528"/>
            <a:ext cx="6309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218688"/>
            <a:ext cx="53035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396EC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191256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9192E"/>
                </a:solidFill>
                <a:latin typeface="Aptos Display"/>
              </a:rPr>
              <a:t>Professional offices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3236976"/>
            <a:ext cx="3246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5B6D8D"/>
                </a:solidFill>
                <a:latin typeface="Aptos"/>
              </a:rPr>
              <a:t>Accountants, lawyers  /  Consultants and practices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50208"/>
            <a:ext cx="6309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4087368"/>
            <a:ext cx="53035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396EC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059936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9192E"/>
                </a:solidFill>
                <a:latin typeface="Aptos Display"/>
              </a:rPr>
              <a:t>Community organisations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4105656"/>
            <a:ext cx="3246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5B6D8D"/>
                </a:solidFill>
                <a:latin typeface="Aptos"/>
              </a:rPr>
              <a:t>Churches and NGOs  /  Local service groups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818888"/>
            <a:ext cx="6309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4956048"/>
            <a:ext cx="53035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396EC"/>
                </a:solidFill>
                <a:latin typeface="Aptos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928616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9192E"/>
                </a:solidFill>
                <a:latin typeface="Aptos Display"/>
              </a:rPr>
              <a:t>Home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4974336"/>
            <a:ext cx="3246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5B6D8D"/>
                </a:solidFill>
                <a:latin typeface="Aptos"/>
              </a:rPr>
              <a:t>Remote workers  /  Families and entrepreneurs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06440"/>
            <a:ext cx="6492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9192E"/>
                </a:solidFill>
                <a:latin typeface="Aptos Display"/>
              </a:rPr>
              <a:t>Acquisition starts with the founder's network: former colleagues, church members, friends, family, neighbours, and local business owners.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12000">
        <p:fade thruBlk="1"/>
      </p:transition>
    </mc:Choice>
    <mc:Fallback>
      <p:transition spd="med" advTm="12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310896"/>
            <a:ext cx="49377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B6D8D"/>
                </a:solidFill>
                <a:latin typeface="Aptos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240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B6D8D"/>
                </a:solidFill>
                <a:latin typeface="Aptos"/>
              </a:rPr>
              <a:t>MOKHELE IT SOLUTIONS   / 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58952"/>
            <a:ext cx="80467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9192E"/>
                </a:solidFill>
                <a:latin typeface="Aptos Display"/>
              </a:rPr>
              <a:t>A price ladder that turns help into continuity.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17904"/>
            <a:ext cx="79552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D8D"/>
                </a:solidFill>
                <a:latin typeface="Aptos"/>
              </a:rPr>
              <a:t>Accessible entry points create trust; support plans create recurring revenue.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48840"/>
            <a:ext cx="3310128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9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2148840"/>
            <a:ext cx="3310128" cy="109728"/>
          </a:xfrm>
          <a:prstGeom prst="round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450592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B6D8D"/>
                </a:solidFill>
                <a:latin typeface="Aptos"/>
              </a:rPr>
              <a:t>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62072"/>
            <a:ext cx="237744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09192E"/>
                </a:solidFill>
                <a:latin typeface="Aptos Display"/>
              </a:rPr>
              <a:t>R500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2286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B6D8D"/>
                </a:solidFill>
                <a:latin typeface="Aptos"/>
              </a:rPr>
              <a:t>per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B2735"/>
                </a:solidFill>
                <a:latin typeface="Aptos"/>
              </a:rPr>
              <a:t>•  Remote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97096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B2735"/>
                </a:solidFill>
                <a:latin typeface="Aptos"/>
              </a:rPr>
              <a:t>•  Monthly health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B2735"/>
                </a:solidFill>
                <a:latin typeface="Aptos"/>
              </a:rPr>
              <a:t>•  Email assistance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148840"/>
            <a:ext cx="3310128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0" y="2148840"/>
            <a:ext cx="3310128" cy="109728"/>
          </a:xfrm>
          <a:prstGeom prst="roundRect">
            <a:avLst/>
          </a:prstGeom>
          <a:solidFill>
            <a:srgbClr val="A7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2450592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B6D8D"/>
                </a:solidFill>
                <a:latin typeface="Aptos"/>
              </a:rPr>
              <a:t>SILVER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862072"/>
            <a:ext cx="237744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09192E"/>
                </a:solidFill>
                <a:latin typeface="Aptos Display"/>
              </a:rPr>
              <a:t>R1,000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3429000"/>
            <a:ext cx="2286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B6D8D"/>
                </a:solidFill>
                <a:latin typeface="Aptos"/>
              </a:rPr>
              <a:t>per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388620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B2735"/>
                </a:solidFill>
                <a:latin typeface="Aptos"/>
              </a:rPr>
              <a:t>•  Everything in Bronze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2" y="4197096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B2735"/>
                </a:solidFill>
                <a:latin typeface="Aptos"/>
              </a:rPr>
              <a:t>•  Priority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4507992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B2735"/>
                </a:solidFill>
                <a:latin typeface="Aptos"/>
              </a:rPr>
              <a:t>•  Backup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4818888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B2735"/>
                </a:solidFill>
                <a:latin typeface="Aptos"/>
              </a:rPr>
              <a:t>•  Device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4192" y="2148840"/>
            <a:ext cx="3310128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A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94192" y="2148840"/>
            <a:ext cx="3310128" cy="109728"/>
          </a:xfrm>
          <a:prstGeom prst="roundRect">
            <a:avLst/>
          </a:prstGeom>
          <a:solidFill>
            <a:srgbClr val="33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2450592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B6D8D"/>
                </a:solidFill>
                <a:latin typeface="Aptos"/>
              </a:rPr>
              <a:t>GOLD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2862072"/>
            <a:ext cx="237744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09192E"/>
                </a:solidFill>
                <a:latin typeface="Aptos Display"/>
              </a:rPr>
              <a:t>R2,000+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3429000"/>
            <a:ext cx="2286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B6D8D"/>
                </a:solidFill>
                <a:latin typeface="Aptos"/>
              </a:rPr>
              <a:t>per 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0224" y="388620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B2735"/>
                </a:solidFill>
                <a:latin typeface="Aptos"/>
              </a:rPr>
              <a:t>•  Unlimited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0224" y="4197096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B2735"/>
                </a:solidFill>
                <a:latin typeface="Aptos"/>
              </a:rPr>
              <a:t>•  Microsoft 365 administration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0224" y="4507992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B2735"/>
                </a:solidFill>
                <a:latin typeface="Aptos"/>
              </a:rPr>
              <a:t>•  Security reviews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0224" y="4818888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B2735"/>
                </a:solidFill>
                <a:latin typeface="Aptos"/>
              </a:rPr>
              <a:t>•  Staff assistance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5715000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396EC"/>
                </a:solidFill>
                <a:latin typeface="Aptos"/>
              </a:rPr>
              <a:t>Additional project pricing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1488" y="5660136"/>
            <a:ext cx="8321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9192E"/>
                </a:solidFill>
                <a:latin typeface="Aptos"/>
              </a:rPr>
              <a:t>Remote support R250–R500/hour  •  On-site R400–R700/hour  •  Microsoft 365 setup R1,000–R3,000  •  IT audit R1,500–R5,000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14000">
        <p:fade thruBlk="1"/>
      </p:transition>
    </mc:Choice>
    <mc:Fallback>
      <p:transition spd="med" advTm="14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310896"/>
            <a:ext cx="49377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B6D8D"/>
                </a:solidFill>
                <a:latin typeface="Aptos"/>
              </a:rPr>
              <a:t>THE ROUTE TO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240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B6D8D"/>
                </a:solidFill>
                <a:latin typeface="Aptos"/>
              </a:rPr>
              <a:t>MOKHELE IT SOLUTIONS   / 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58952"/>
            <a:ext cx="80467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9192E"/>
                </a:solidFill>
                <a:latin typeface="Aptos Display"/>
              </a:rPr>
              <a:t>Earn the first five customers, then compound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17904"/>
            <a:ext cx="79552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D8D"/>
                </a:solidFill>
                <a:latin typeface="Aptos"/>
              </a:rPr>
              <a:t>A simple weekly rhythm keeps the business visible and the pipeline moving.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79792" y="2057400"/>
            <a:ext cx="3977639" cy="3520440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4.jpg"/>
          <p:cNvPicPr>
            <a:picLocks noChangeAspect="1"/>
          </p:cNvPicPr>
          <p:nvPr/>
        </p:nvPicPr>
        <p:blipFill>
          <a:blip r:embed="rId2"/>
          <a:srcRect l="12198" r="12198"/>
          <a:stretch>
            <a:fillRect/>
          </a:stretch>
        </p:blipFill>
        <p:spPr>
          <a:xfrm>
            <a:off x="7534656" y="2112264"/>
            <a:ext cx="3867911" cy="34107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44384" y="5120640"/>
            <a:ext cx="1536192" cy="283464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5170932"/>
            <a:ext cx="153619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ptos"/>
              </a:rPr>
              <a:t>TRUST IS THE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76272"/>
            <a:ext cx="594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396EC"/>
                </a:solidFill>
                <a:latin typeface="Aptos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94560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9192E"/>
                </a:solidFill>
                <a:latin typeface="Aptos Display"/>
              </a:rPr>
              <a:t>Be findable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94560"/>
            <a:ext cx="35204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B6D8D"/>
                </a:solidFill>
                <a:latin typeface="Aptos"/>
              </a:rPr>
              <a:t>WhatsApp Business, LinkedIn, Facebook, a simple website, and business cards.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072384"/>
            <a:ext cx="594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396EC"/>
                </a:solidFill>
                <a:latin typeface="Aptos Displa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090672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9192E"/>
                </a:solidFill>
                <a:latin typeface="Aptos Display"/>
              </a:rPr>
              <a:t>Start warm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090672"/>
            <a:ext cx="35204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B6D8D"/>
                </a:solidFill>
                <a:latin typeface="Aptos"/>
              </a:rPr>
              <a:t>Ask the existing network for introductions and share a clear, human service message.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68496"/>
            <a:ext cx="594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396EC"/>
                </a:solidFill>
                <a:latin typeface="Aptos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86784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9192E"/>
                </a:solidFill>
                <a:latin typeface="Aptos Display"/>
              </a:rPr>
              <a:t>Visit locally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986784"/>
            <a:ext cx="35204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B6D8D"/>
                </a:solidFill>
                <a:latin typeface="Aptos"/>
              </a:rPr>
              <a:t>Offer a free initial IT health check to professional offices and small businesses.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864608"/>
            <a:ext cx="594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396EC"/>
                </a:solidFill>
                <a:latin typeface="Aptos Display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82896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9192E"/>
                </a:solidFill>
                <a:latin typeface="Aptos Display"/>
              </a:rPr>
              <a:t>Follow through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82896"/>
            <a:ext cx="35204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B6D8D"/>
                </a:solidFill>
                <a:latin typeface="Aptos"/>
              </a:rPr>
              <a:t>Document fixes, check back, request referrals, and invite clients onto a support plan.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833871"/>
            <a:ext cx="6446520" cy="519427"/>
          </a:xfrm>
          <a:prstGeom prst="roundRect">
            <a:avLst/>
          </a:prstGeom>
          <a:solidFill>
            <a:srgbClr val="08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5934456"/>
            <a:ext cx="6080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A free first conversation lowers the barrier; consistent follow-up turns a good first experience into a relationship.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14000">
        <p:fade thruBlk="1"/>
      </p:transition>
    </mc:Choice>
    <mc:Fallback>
      <p:transition spd="med" advTm="14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310896"/>
            <a:ext cx="49377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B6D8D"/>
                </a:solidFill>
                <a:latin typeface="Aptos"/>
              </a:rPr>
              <a:t>THE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240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B6D8D"/>
                </a:solidFill>
                <a:latin typeface="Aptos"/>
              </a:rPr>
              <a:t>MOKHELE IT SOLUTIONS   / 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58952"/>
            <a:ext cx="80467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9192E"/>
                </a:solidFill>
                <a:latin typeface="Aptos Display"/>
              </a:rPr>
              <a:t>Small overhead. Repeatable delivery.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17904"/>
            <a:ext cx="79552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D8D"/>
                </a:solidFill>
                <a:latin typeface="Aptos"/>
              </a:rPr>
              <a:t>The first version of the business can run on tools and habits the founder already understands.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945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194560"/>
            <a:ext cx="64008" cy="2103120"/>
          </a:xfrm>
          <a:prstGeom prst="round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377440"/>
            <a:ext cx="299923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9192E"/>
                </a:solidFill>
                <a:latin typeface="Aptos Display"/>
              </a:rPr>
              <a:t>Launch 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16352"/>
            <a:ext cx="2980944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B2735"/>
                </a:solidFill>
                <a:latin typeface="Aptos"/>
              </a:rPr>
              <a:t>Reliable laptop
Smartphone and stable internet
Remote-support software
Basic toolkit and documentation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1945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07408" y="2194560"/>
            <a:ext cx="64008" cy="2103120"/>
          </a:xfrm>
          <a:prstGeom prst="roundRect">
            <a:avLst/>
          </a:prstGeom>
          <a:solidFill>
            <a:srgbClr val="A7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6864" y="2377440"/>
            <a:ext cx="299923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9192E"/>
                </a:solidFill>
                <a:latin typeface="Aptos Display"/>
              </a:rPr>
              <a:t>Client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816352"/>
            <a:ext cx="2980944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B2735"/>
                </a:solidFill>
                <a:latin typeface="Aptos"/>
              </a:rPr>
              <a:t>Discover
Diagnose
Resolve
Document
Follow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1945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56448" y="2194560"/>
            <a:ext cx="64008" cy="2103120"/>
          </a:xfrm>
          <a:prstGeom prst="roundRect">
            <a:avLst/>
          </a:prstGeom>
          <a:solidFill>
            <a:srgbClr val="33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2377440"/>
            <a:ext cx="299923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9192E"/>
                </a:solidFill>
                <a:latin typeface="Aptos Display"/>
              </a:rPr>
              <a:t>Control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816352"/>
            <a:ext cx="2980944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B2735"/>
                </a:solidFill>
                <a:latin typeface="Aptos"/>
              </a:rPr>
              <a:t>Clear quotations
Service records
Backup verification
Invoicing and scheduling
Compliance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489204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396EC"/>
                </a:solidFill>
                <a:latin typeface="Aptos"/>
              </a:rPr>
              <a:t>Estimated lean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4828032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9192E"/>
                </a:solidFill>
                <a:latin typeface="Aptos Display"/>
              </a:rPr>
              <a:t>Registration R500–R1,000  •  Business cards R300  •  Marketing materials R500  •  Basic toolkit R500  •  Internet and communication: existing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12000">
        <p:fade thruBlk="1"/>
      </p:transition>
    </mc:Choice>
    <mc:Fallback>
      <p:transition spd="med" advTm="12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310896"/>
            <a:ext cx="49377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B6D8D"/>
                </a:solidFill>
                <a:latin typeface="Aptos"/>
              </a:rPr>
              <a:t>THE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240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B6D8D"/>
                </a:solidFill>
                <a:latin typeface="Aptos"/>
              </a:rPr>
              <a:t>MOKHELE IT SOLUTIONS   / 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58952"/>
            <a:ext cx="80467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9192E"/>
                </a:solidFill>
                <a:latin typeface="Aptos Display"/>
              </a:rPr>
              <a:t>A conservative base case with visible upside.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17904"/>
            <a:ext cx="79552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D8D"/>
                </a:solidFill>
                <a:latin typeface="Aptos"/>
              </a:rPr>
              <a:t>The business can launch lean, prove demand, and add capacity as recurring revenue grows.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5138928" cy="3337560"/>
          </a:xfrm>
          <a:prstGeom prst="roundRect">
            <a:avLst/>
          </a:prstGeom>
          <a:solidFill>
            <a:srgbClr val="08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24688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A7CDE7"/>
                </a:solidFill>
                <a:latin typeface="Aptos"/>
              </a:rPr>
              <a:t>YEAR 1 BASE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07792"/>
            <a:ext cx="210312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396EC"/>
                </a:solidFill>
                <a:latin typeface="Aptos Display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38144"/>
            <a:ext cx="21031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7CDE7"/>
                </a:solidFill>
                <a:latin typeface="Aptos"/>
              </a:rPr>
              <a:t>recurring business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907792"/>
            <a:ext cx="1874519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33A67E"/>
                </a:solidFill>
                <a:latin typeface="Aptos Display"/>
              </a:rPr>
              <a:t>R10k–R20k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438144"/>
            <a:ext cx="187451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7CDE7"/>
                </a:solidFill>
                <a:latin typeface="Aptos"/>
              </a:rPr>
              <a:t>monthly revenue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97680"/>
            <a:ext cx="10972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A7CDE7"/>
                </a:solidFill>
                <a:latin typeface="Aptos"/>
              </a:rPr>
              <a:t>Milestones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90288"/>
            <a:ext cx="43434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FFFFFF"/>
                </a:solidFill>
                <a:latin typeface="Aptos"/>
              </a:rPr>
              <a:t>Months 1–3: register, launch presence, win first 3 customers
Months 4–6: reach 5–10 regular clients, introduce plans
Months 7–12: reach 15–20 clients, add cloud and security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48840"/>
            <a:ext cx="532180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450592"/>
            <a:ext cx="24688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396EC"/>
                </a:solidFill>
                <a:latin typeface="Aptos"/>
              </a:rPr>
              <a:t>GROWTH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907792"/>
            <a:ext cx="210312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09192E"/>
                </a:solidFill>
                <a:latin typeface="Aptos Display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38144"/>
            <a:ext cx="21031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D8D"/>
                </a:solidFill>
                <a:latin typeface="Aptos"/>
              </a:rPr>
              <a:t>active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907792"/>
            <a:ext cx="205740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09192E"/>
                </a:solidFill>
                <a:latin typeface="Aptos Display"/>
              </a:rPr>
              <a:t>R30k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438144"/>
            <a:ext cx="2057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D8D"/>
                </a:solidFill>
                <a:latin typeface="Aptos"/>
              </a:rPr>
              <a:t>monthly sales at R1,500 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97680"/>
            <a:ext cx="10972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396EC"/>
                </a:solidFill>
                <a:latin typeface="Aptos"/>
              </a:rPr>
              <a:t>Growth levers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90288"/>
            <a:ext cx="429768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1B2735"/>
                </a:solidFill>
                <a:latin typeface="Aptos"/>
              </a:rPr>
              <a:t>•  More Silver and Gold plans
•  Microsoft 365 consulting
•  Cybersecurity awareness training
•  Computer upgrades and referral partnerships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16000">
        <p:fade thruBlk="1"/>
      </p:transition>
    </mc:Choice>
    <mc:Fallback>
      <p:transition spd="med" advTm="16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310896"/>
            <a:ext cx="49377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B6D8D"/>
                </a:solidFill>
                <a:latin typeface="Aptos"/>
              </a:rPr>
              <a:t>THE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240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B6D8D"/>
                </a:solidFill>
                <a:latin typeface="Aptos"/>
              </a:rPr>
              <a:t>MOKHELE IT SOLUTIONS   /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58952"/>
            <a:ext cx="80467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9192E"/>
                </a:solidFill>
                <a:latin typeface="Aptos Display"/>
              </a:rPr>
              <a:t>Twelve months from launch to a trusted local partner.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17904"/>
            <a:ext cx="79552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D8D"/>
                </a:solidFill>
                <a:latin typeface="Aptos"/>
              </a:rPr>
              <a:t>The plan is staged so each milestone funds the next layer of capability.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79792" y="2057400"/>
            <a:ext cx="3977639" cy="3520440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6.jpg"/>
          <p:cNvPicPr>
            <a:picLocks noChangeAspect="1"/>
          </p:cNvPicPr>
          <p:nvPr/>
        </p:nvPicPr>
        <p:blipFill>
          <a:blip r:embed="rId2"/>
          <a:srcRect l="12198" r="12198"/>
          <a:stretch>
            <a:fillRect/>
          </a:stretch>
        </p:blipFill>
        <p:spPr>
          <a:xfrm>
            <a:off x="7534656" y="2112264"/>
            <a:ext cx="3867911" cy="34107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44384" y="5120640"/>
            <a:ext cx="1536192" cy="283464"/>
          </a:xfrm>
          <a:prstGeom prst="round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5170932"/>
            <a:ext cx="153619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ptos"/>
              </a:rPr>
              <a:t>THE LONG-TERM 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2926080"/>
            <a:ext cx="73152" cy="2423160"/>
          </a:xfrm>
          <a:prstGeom prst="rect">
            <a:avLst/>
          </a:prstGeom>
          <a:solidFill>
            <a:srgbClr val="A7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9536" y="2267712"/>
            <a:ext cx="411480" cy="411480"/>
          </a:xfrm>
          <a:prstGeom prst="round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81328" y="2176272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396EC"/>
                </a:solidFill>
                <a:latin typeface="Aptos"/>
              </a:rPr>
              <a:t>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176272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9192E"/>
                </a:solidFill>
                <a:latin typeface="Aptos Display"/>
              </a:rPr>
              <a:t>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194560"/>
            <a:ext cx="32461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D8D"/>
                </a:solidFill>
                <a:latin typeface="Aptos"/>
              </a:rPr>
              <a:t>Register the business  /  Set up digital presence  /  Win first 3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" y="3163824"/>
            <a:ext cx="411480" cy="411480"/>
          </a:xfrm>
          <a:prstGeom prst="roundRect">
            <a:avLst/>
          </a:prstGeom>
          <a:solidFill>
            <a:srgbClr val="A7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81328" y="3072384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A7CDE7"/>
                </a:solidFill>
                <a:latin typeface="Aptos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072384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9192E"/>
                </a:solidFill>
                <a:latin typeface="Aptos Display"/>
              </a:rPr>
              <a:t>Stabilise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090672"/>
            <a:ext cx="32461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D8D"/>
                </a:solidFill>
                <a:latin typeface="Aptos"/>
              </a:rPr>
              <a:t>Reach 5–10 clients  /  Introduce support plans  /  Standardise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" y="4059936"/>
            <a:ext cx="411480" cy="411480"/>
          </a:xfrm>
          <a:prstGeom prst="roundRect">
            <a:avLst/>
          </a:prstGeom>
          <a:solidFill>
            <a:srgbClr val="33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81328" y="396849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3A67E"/>
                </a:solidFill>
                <a:latin typeface="Aptos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68496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9192E"/>
                </a:solidFill>
                <a:latin typeface="Aptos Display"/>
              </a:rPr>
              <a:t>Expand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86784"/>
            <a:ext cx="32461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D8D"/>
                </a:solidFill>
                <a:latin typeface="Aptos"/>
              </a:rPr>
              <a:t>Add Microsoft 365  /  Offer security awareness  /  Build referral partnerships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" y="4956048"/>
            <a:ext cx="411480" cy="411480"/>
          </a:xfrm>
          <a:prstGeom prst="roundRect">
            <a:avLst/>
          </a:prstGeom>
          <a:solidFill>
            <a:srgbClr val="5B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81328" y="4864608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5B5C63"/>
                </a:solidFill>
                <a:latin typeface="Aptos"/>
              </a:rPr>
              <a:t>Q4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864608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9192E"/>
                </a:solidFill>
                <a:latin typeface="Aptos Display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882896"/>
            <a:ext cx="32461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D8D"/>
                </a:solidFill>
                <a:latin typeface="Aptos"/>
              </a:rPr>
              <a:t>Reach 15–20 clients  /  Improve service reliability  /  Prepare for sustainable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806440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396EC"/>
                </a:solidFill>
                <a:latin typeface="Aptos"/>
              </a:rPr>
              <a:t>Three-year 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742432"/>
            <a:ext cx="4846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9192E"/>
                </a:solidFill>
                <a:latin typeface="Aptos Display"/>
              </a:rPr>
              <a:t>A trusted, growing IT support business with recurring clients and a strong reputation across local communities and small enterprises.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14000">
        <p:fade thruBlk="1"/>
      </p:transition>
    </mc:Choice>
    <mc:Fallback>
      <p:transition spd="med" advTm="14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7.jpg"/>
          <p:cNvPicPr>
            <a:picLocks noChangeAspect="1"/>
          </p:cNvPicPr>
          <p:nvPr/>
        </p:nvPicPr>
        <p:blipFill>
          <a:blip r:embed="rId2"/>
          <a:srcRect l="24044" r="24044"/>
          <a:stretch>
            <a:fillRect/>
          </a:stretch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37960" y="0"/>
            <a:ext cx="5650992" cy="6858000"/>
          </a:xfrm>
          <a:prstGeom prst="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9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731520"/>
            <a:ext cx="2377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396EC"/>
                </a:solidFill>
                <a:latin typeface="Aptos"/>
              </a:rPr>
              <a:t>THE NEXT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63040"/>
            <a:ext cx="5806440" cy="18745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3200" b="1">
                <a:solidFill>
                  <a:srgbClr val="FFFFFF"/>
                </a:solidFill>
                <a:latin typeface="Aptos Display"/>
              </a:rPr>
              <a:t>Package the expertise.
Prove the value.
Build the relationship.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840480"/>
            <a:ext cx="53492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A7CDE7"/>
                </a:solidFill>
                <a:latin typeface="Aptos Display"/>
              </a:rPr>
              <a:t>Mokhele IT Solutions is designed to begin with a low-risk launch and grow through reliable service, recurring support plans, and the trust of every client 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5330952"/>
            <a:ext cx="2084831" cy="438912"/>
          </a:xfrm>
          <a:prstGeom prst="roundRect">
            <a:avLst/>
          </a:prstGeom>
          <a:solidFill>
            <a:srgbClr val="139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5449824"/>
            <a:ext cx="2084831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LET'S BUILD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126480"/>
            <a:ext cx="6126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7CDE7"/>
                </a:solidFill>
                <a:latin typeface="Aptos"/>
              </a:rPr>
              <a:t>Sifiso Mokhele  |  +27 64 937 3653  |  info@mokheleitsolutions.co.za
www.mokheleitsolutions.co.za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1">
                <a:solidFill>
                  <a:srgbClr val="A7CDE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9000">
        <p:fade thruBlk="1"/>
      </p:transition>
    </mc:Choice>
    <mc:Fallback>
      <p:transition spd="med" advTm="9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</Words>
  <Application>Microsoft Office PowerPoint</Application>
  <PresentationFormat>Widescreen</PresentationFormat>
  <Paragraphs>168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Mokhele IT Solutions - Updated Business Proposal</dc:title>
  <dc:subject>IT support and technology services business proposal</dc:subject>
  <dc:creator>Sifiso Mokhele</dc:creator>
  <cp:keywords>IT support, Microsoft 365, cybersecurity, small business</cp:keywords>
  <dc:description>generated using python-pptx</dc:description>
  <cp:lastModifiedBy>Sifiso Mokhele</cp:lastModifiedBy>
  <cp:revision>3</cp:revision>
  <dcterms:created xsi:type="dcterms:W3CDTF">2013-01-27T09:14:16Z</dcterms:created>
  <dcterms:modified xsi:type="dcterms:W3CDTF">2026-09-30T13:07:00Z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2026-09-30T13:04:00Z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42804ae1-d2e9-40b7-a4a3-45811234298b</vt:lpwstr>
  </property>
  <property fmtid="{D5CDD505-2E9C-101B-9397-08002B2CF9AE}" pid="7" name="MSIP_Label_defa4170-0d19-0005-0004-bc88714345d2_ActionId">
    <vt:lpwstr>8b738007-8512-4a6e-bfaa-befd5e9b222f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