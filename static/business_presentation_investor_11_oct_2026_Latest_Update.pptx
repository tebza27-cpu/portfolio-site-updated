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64922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219456" cy="4754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234440"/>
            <a:ext cx="5669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</a:rPr>
              <a:t>Sifiso IT Support &amp; Business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4884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Final Business Presentation | 11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926080"/>
            <a:ext cx="51206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E293B"/>
                </a:solidFill>
              </a:rPr>
              <a:t>• Solving customer problems with dependable IT support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B"/>
                </a:solidFill>
              </a:rPr>
              <a:t>• Building trust, loyalty, and long-term client relationships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B"/>
                </a:solidFill>
              </a:rPr>
              <a:t>• Growing a professional service business with clear systems and value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B"/>
                </a:solidFill>
              </a:rPr>
              <a:t>• Prepared for feedback, Q&amp;A, and the next stage of growth</a:t>
            </a:r>
          </a:p>
        </p:txBody>
      </p:sp>
      <p:pic>
        <p:nvPicPr>
          <p:cNvPr id="8" name="Picture 7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914400"/>
            <a:ext cx="347472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1. Customer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What problem am I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Small businesses lose time, revenue, and confidence when their devices, systems, or digital processes fail.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Owners often struggle with slow troubleshooting, lack of IT guidance, and poor technology reliability.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The real need is dependable, affordable support that keeps business operations running smoothly.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We solve this by reducing stress, improving productivity, and helping clients focus on growth.</a:t>
            </a:r>
          </a:p>
        </p:txBody>
      </p:sp>
      <p:pic>
        <p:nvPicPr>
          <p:cNvPr id="6" name="Picture 5" descr="custom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75488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2. Product /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What exactly do I sell?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I provide practical IT support and digital systems assistance for small businesses, entrepreneurs, and home-based operations.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Core services include troubleshooting, setup, maintenance, cloud and file support, digital process guidance, and service follow-up.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Service model: one-off support, monthly retainers, and package-based subscriptions for ongoing reliability.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This gives clients a simple, valuable solution: less downtime and more confidence in how they work.</a:t>
            </a:r>
          </a:p>
        </p:txBody>
      </p:sp>
      <p:pic>
        <p:nvPicPr>
          <p:cNvPr id="6" name="Picture 5" descr="ser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75488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3.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Why am I different or better?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Customer-first service with clear communication and practical solutions.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Reliable support for non-technical business owners who need simple, effective help.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Flexible packages that match real business needs, not expensive one-size-fits-all plans.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Trust-based relationships create repeat business, referrals, and a lasting reputation.</a:t>
            </a:r>
          </a:p>
        </p:txBody>
      </p:sp>
      <p:pic>
        <p:nvPicPr>
          <p:cNvPr id="6" name="Picture 5" descr="sup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75488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4. Target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Who do I serve?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03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Small business owners who are busy and do not have an in-house IT team.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Freelancers, home-based businesses, small offices, and service-driven companies with basic digital needs.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Clients who value professionalism, responsiveness, and clear technical support.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Priority market: local professionals, startups, and growing businesses that need dependable support.</a:t>
            </a:r>
          </a:p>
        </p:txBody>
      </p:sp>
      <p:pic>
        <p:nvPicPr>
          <p:cNvPr id="6" name="Picture 5" descr="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66344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5. Inclusive Pricing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Affordability is part of the customer need, not an afterthought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6692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Some individuals and micro-businesses need IT help but cannot afford large once-off fees or full monthly retainers.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Offer a low-cost essential support session, clear quotations, and a payment plan where appropriate.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Use remote support, reusable checklists, and group guidance to keep delivery costs low without lowering service quality.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Retainer and premium business clients help subsidise accessible support while referrals build a wider customer 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828800"/>
            <a:ext cx="205740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5431" y="195681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Essential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5431" y="2212848"/>
            <a:ext cx="1728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350 / 45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828800"/>
            <a:ext cx="205740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195681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Starter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212848"/>
            <a:ext cx="1728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750 / 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337560"/>
            <a:ext cx="205740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85431" y="346557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Business retainer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1" y="3721608"/>
            <a:ext cx="1728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2,500 / 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3337560"/>
            <a:ext cx="2155965" cy="1030379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71432" y="346557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Access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721608"/>
            <a:ext cx="2155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0F172A"/>
                </a:solidFill>
              </a:rPr>
              <a:t>Value before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6. Acquisition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How will I get attention and make sales?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Use referrals, online visibility, networking, and direct outreach to local businesses.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Create a simple digital presence through social channels, WhatsApp, and a business website.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Offer a free discovery call or quick diagnostic session to build trust and show value.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Turn satisfied clients into advocates through consistent service, follow-up, and repeat support.</a:t>
            </a:r>
          </a:p>
        </p:txBody>
      </p:sp>
      <p:pic>
        <p:nvPicPr>
          <p:cNvPr id="6" name="Picture 5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466344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7. Required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What do I need to launch and maintain the business?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Reliable laptop, smartphone, stable internet, and essential productivity tools.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Basic diagnostic software, backup systems, and case management or documentation workflows.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Initial working capital for branding, networking, communication tools, and service delivery costs.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Simple systems for invoicing, scheduling, client communication, and service tracking.</a:t>
            </a:r>
          </a:p>
        </p:txBody>
      </p:sp>
      <p:pic>
        <p:nvPicPr>
          <p:cNvPr id="6" name="Picture 5" descr="ser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5720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8. Evidence of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How will the business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Revenue comes from support fees, monthly retainers, troubleshooting packages, and service subscriptions.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Profitability depends on keeping costs low while delivering dependable value and trusted client service.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Simple pricing model: set fee + hourly support + optional premium maintenance packages.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The goal is steady recurring revenue and a sustainable client base built on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9. Startup Cost &amp; Operating Cost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The business must be realistic, sustainable, and investable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10312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Equipment &amp;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18,000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463040"/>
            <a:ext cx="210312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36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Website &amp; 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6,500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463040"/>
            <a:ext cx="210312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2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63040"/>
            <a:ext cx="210312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Software &amp;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5,000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274320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0540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Owner time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3101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7,500 / month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926080"/>
            <a:ext cx="2743200" cy="10058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2191" y="30540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Monthly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33101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11,000 / month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926080"/>
            <a:ext cx="274320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48272" y="30540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Working capital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3101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102412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Estimated setup cost: R 46,500 | Estimated monthly operating cost: R 18,500 (including owner time equivalent and core business run costs)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01:00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10. Revenue Model &amp; Sales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How the business creates dependable sales and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01168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20 active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63040"/>
            <a:ext cx="201168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Average monthly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1,500/client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463040"/>
            <a:ext cx="201168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951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Monthly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463040"/>
            <a:ext cx="201168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Annual revenue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360,000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2926080" cy="118872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282696"/>
            <a:ext cx="2596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High-value support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538728"/>
            <a:ext cx="2596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2,500 /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3154680"/>
            <a:ext cx="2926080" cy="11887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59352" y="3282696"/>
            <a:ext cx="2596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Service package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3538728"/>
            <a:ext cx="2596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12-18 clients added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0287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Revenue growth model: steady recurring support fees + premium add-on services + referrals = sustainable monthly income and predictable sales.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01:10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11. One Customer Sale: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A transparent calculation based on Chapter 4 value, costs, pricing, and Chapter 5 customer retention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14884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Customer sale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63040"/>
            <a:ext cx="214884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82112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Owner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6 hours x R250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463040"/>
            <a:ext cx="2148840" cy="100584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13831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Time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1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1,500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463040"/>
            <a:ext cx="214884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45552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Direct delivery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</a:rPr>
              <a:t>Revenue: R3,000 sale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</a:rPr>
              <a:t>Less cost of owner time: 6 hours x R250 = R1,500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</a:rPr>
              <a:t>Less direct delivery, software, data, travel and payment costs: R300 + R200 = R500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</a:rPr>
              <a:t>Profit per sale: R3,000 - R1,500 - R500 = R1,000 | Profit margin: R1,000 / R3,000 = 33.3%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2743200" cy="960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8828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Monthly fixed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1389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11,000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754880"/>
            <a:ext cx="3108960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05072" y="4882896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Break-even calculation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5138928"/>
            <a:ext cx="27797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R11,000 / R1,000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754880"/>
            <a:ext cx="274320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8352" y="48828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Break-even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51389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11 sales /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01:15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12. Investor Value, Profitability &amp; Reinvestment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A business that can become self-sustaining and scale responsibly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19456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Investment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75,000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554480"/>
            <a:ext cx="2194560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9272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Annual revenue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540,000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554480"/>
            <a:ext cx="219456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1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Gross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1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65%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54480"/>
            <a:ext cx="2194560" cy="105156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1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Operating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195,000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154680"/>
            <a:ext cx="3200400" cy="12344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2" y="3282696"/>
            <a:ext cx="2871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Estimated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538728"/>
            <a:ext cx="2871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156,000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154680"/>
            <a:ext cx="3200400" cy="12344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2" y="3282696"/>
            <a:ext cx="2871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Investor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538728"/>
            <a:ext cx="2871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30% equity / profit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</a:rPr>
              <a:t>Reinvestment plan: 40% of profits back into sales and service upgrades, 30% reserved for business stability, and 30% distributed to investors or used to expand the client base.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01:15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13. Chapter 11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Vision, operations, compliance, leadership, and SMART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Vision: in three years, I want a trusted, growing IT support business with recurring clients and a strong reputation.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Operations: I will document workflows, service steps, and customer communication systems with consistency.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Compliance: I will research local licensing, registration, and business regulations from the beginning.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SMART goals: establish recurring revenue, increase client base, and improve service reliability by set milestones.</a:t>
            </a:r>
          </a:p>
        </p:txBody>
      </p:sp>
      <p:pic>
        <p:nvPicPr>
          <p:cNvPr id="6" name="Picture 5" descr="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5720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</a:rPr>
              <a:t>Final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E2E8F0"/>
                </a:solidFill>
              </a:rPr>
              <a:t>This business is not just about technical support; it is about building trust, reducing operational risk, and creating measurable value for clients.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E2E8F0"/>
                </a:solidFill>
              </a:rPr>
              <a:t>It is a realistic, investable business model with clear costs, sustainable revenue, and a scalable path to long-term profit.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E2E8F0"/>
                </a:solidFill>
              </a:rPr>
              <a:t>The business can become self-sustaining through recurring revenue, reinvestment, and disciplined growth, while giving investors both value and return.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E2E8F0"/>
                </a:solidFill>
              </a:rPr>
              <a:t>Thank you for listening. I welcome your feedback, partnership discussions, and next-stage investment conversations.</a:t>
            </a:r>
          </a:p>
        </p:txBody>
      </p:sp>
      <p:pic>
        <p:nvPicPr>
          <p:cNvPr id="6" name="Picture 5" descr="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828800"/>
            <a:ext cx="256032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1228</Words>
  <Application>Microsoft Office PowerPoint</Application>
  <PresentationFormat>Widescreen</PresentationFormat>
  <Paragraphs>155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Sifiso Mokhele</cp:lastModifiedBy>
  <cp:revision>2</cp:revision>
  <dcterms:created xsi:type="dcterms:W3CDTF">2013-01-27T09:14:16Z</dcterms:created>
  <dcterms:modified xsi:type="dcterms:W3CDTF">2026-09-23T15:13:05Z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2026-09-23T15:12:59Z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42804ae1-d2e9-40b7-a4a3-45811234298b</vt:lpwstr>
  </property>
  <property fmtid="{D5CDD505-2E9C-101B-9397-08002B2CF9AE}" pid="7" name="MSIP_Label_defa4170-0d19-0005-0004-bc88714345d2_ActionId">
    <vt:lpwstr>8ee60d99-227a-449c-93e5-08c17602e23e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